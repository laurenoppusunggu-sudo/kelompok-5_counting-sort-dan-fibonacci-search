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notesSlides/notesSlide14.xml" ContentType="application/vnd.openxmlformats-officedocument.presentationml.notesSlide+xml"/>
  <Override PartName="/ppt/charts/chart2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54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Counting Sort (ms)</c:v>
                </c:pt>
              </c:strCache>
            </c:strRef>
          </c:tx>
          <c:spPr>
            <a:solidFill>
              <a:srgbClr val="0A7E8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n=100</c:v>
                </c:pt>
                <c:pt idx="1">
                  <c:v>n=500</c:v>
                </c:pt>
                <c:pt idx="2">
                  <c:v>n=1000</c:v>
                </c:pt>
                <c:pt idx="3">
                  <c:v>n=5000</c:v>
                </c:pt>
                <c:pt idx="4">
                  <c:v>n=10000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0.06</c:v>
                </c:pt>
                <c:pt idx="1">
                  <c:v>0.106</c:v>
                </c:pt>
                <c:pt idx="2">
                  <c:v>0.37</c:v>
                </c:pt>
                <c:pt idx="3">
                  <c:v>0.96</c:v>
                </c:pt>
                <c:pt idx="4">
                  <c:v>1.9279999999999999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941-48C1-9211-45481FA6C9A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Bubble Sort (ms)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n=100</c:v>
                </c:pt>
                <c:pt idx="1">
                  <c:v>n=500</c:v>
                </c:pt>
                <c:pt idx="2">
                  <c:v>n=1000</c:v>
                </c:pt>
                <c:pt idx="3">
                  <c:v>n=5000</c:v>
                </c:pt>
                <c:pt idx="4">
                  <c:v>n=10000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0.21099999999999999</c:v>
                </c:pt>
                <c:pt idx="1">
                  <c:v>5.4640000000000004</c:v>
                </c:pt>
                <c:pt idx="2">
                  <c:v>22.965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941-48C1-9211-45481FA6C9A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EEF6F8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Counting Sort (ms)</c:v>
                </c:pt>
              </c:strCache>
            </c:strRef>
          </c:tx>
          <c:spPr>
            <a:ln w="31750" cap="flat">
              <a:solidFill>
                <a:srgbClr val="17C3B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7C3B2"/>
              </a:solidFill>
              <a:ln w="9525" cap="flat">
                <a:solidFill>
                  <a:srgbClr val="17C3B2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100</c:v>
                </c:pt>
                <c:pt idx="1">
                  <c:v>200</c:v>
                </c:pt>
                <c:pt idx="2">
                  <c:v>300</c:v>
                </c:pt>
                <c:pt idx="3">
                  <c:v>400</c:v>
                </c:pt>
                <c:pt idx="4">
                  <c:v>500</c:v>
                </c:pt>
                <c:pt idx="5">
                  <c:v>600</c:v>
                </c:pt>
                <c:pt idx="6">
                  <c:v>700</c:v>
                </c:pt>
                <c:pt idx="7">
                  <c:v>800</c:v>
                </c:pt>
                <c:pt idx="8">
                  <c:v>900</c:v>
                </c:pt>
                <c:pt idx="9">
                  <c:v>1000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4.7E-2</c:v>
                </c:pt>
                <c:pt idx="1">
                  <c:v>6.2E-2</c:v>
                </c:pt>
                <c:pt idx="2">
                  <c:v>7.9000000000000001E-2</c:v>
                </c:pt>
                <c:pt idx="3">
                  <c:v>9.1999999999999998E-2</c:v>
                </c:pt>
                <c:pt idx="4">
                  <c:v>0.106</c:v>
                </c:pt>
                <c:pt idx="5">
                  <c:v>0.13200000000000001</c:v>
                </c:pt>
                <c:pt idx="6">
                  <c:v>0.16800000000000001</c:v>
                </c:pt>
                <c:pt idx="7">
                  <c:v>0.24</c:v>
                </c:pt>
                <c:pt idx="8">
                  <c:v>0.31</c:v>
                </c:pt>
                <c:pt idx="9">
                  <c:v>0.37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96E3-4E14-9DC9-58F95DC537B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Bubble Sort (ms)</c:v>
                </c:pt>
              </c:strCache>
            </c:strRef>
          </c:tx>
          <c:spPr>
            <a:ln w="31750" cap="flat">
              <a:solidFill>
                <a:srgbClr val="EF444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F4444"/>
              </a:solidFill>
              <a:ln w="9525" cap="flat">
                <a:solidFill>
                  <a:srgbClr val="EF4444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100</c:v>
                </c:pt>
                <c:pt idx="1">
                  <c:v>200</c:v>
                </c:pt>
                <c:pt idx="2">
                  <c:v>300</c:v>
                </c:pt>
                <c:pt idx="3">
                  <c:v>400</c:v>
                </c:pt>
                <c:pt idx="4">
                  <c:v>500</c:v>
                </c:pt>
                <c:pt idx="5">
                  <c:v>600</c:v>
                </c:pt>
                <c:pt idx="6">
                  <c:v>700</c:v>
                </c:pt>
                <c:pt idx="7">
                  <c:v>800</c:v>
                </c:pt>
                <c:pt idx="8">
                  <c:v>900</c:v>
                </c:pt>
                <c:pt idx="9">
                  <c:v>1000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0.21099999999999999</c:v>
                </c:pt>
                <c:pt idx="1">
                  <c:v>0.72</c:v>
                </c:pt>
                <c:pt idx="2">
                  <c:v>1.54</c:v>
                </c:pt>
                <c:pt idx="3">
                  <c:v>2.81</c:v>
                </c:pt>
                <c:pt idx="4">
                  <c:v>5.4640000000000004</c:v>
                </c:pt>
                <c:pt idx="5">
                  <c:v>8.2200000000000006</c:v>
                </c:pt>
                <c:pt idx="6">
                  <c:v>11.8</c:v>
                </c:pt>
                <c:pt idx="7">
                  <c:v>16.399999999999999</c:v>
                </c:pt>
                <c:pt idx="8">
                  <c:v>19.5</c:v>
                </c:pt>
                <c:pt idx="9">
                  <c:v>22.965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96E3-4E14-9DC9-58F95DC537B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EEF6F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0677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F2670334-03C3-6C50-AB32-768BD88886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9655" y="481264"/>
            <a:ext cx="3450657" cy="3465094"/>
          </a:xfrm>
          <a:prstGeom prst="rect">
            <a:avLst/>
          </a:prstGeom>
          <a:effectLst>
            <a:glow rad="228600">
              <a:schemeClr val="accent5">
                <a:satMod val="175000"/>
                <a:alpha val="40000"/>
              </a:schemeClr>
            </a:glow>
            <a:innerShdw blurRad="63500" dist="50800" dir="13500000">
              <a:prstClr val="black">
                <a:alpha val="50000"/>
              </a:prstClr>
            </a:innerShdw>
          </a:effectLst>
        </p:spPr>
      </p:pic>
      <p:sp>
        <p:nvSpPr>
          <p:cNvPr id="2" name="Shape 0"/>
          <p:cNvSpPr/>
          <p:nvPr/>
        </p:nvSpPr>
        <p:spPr>
          <a:xfrm>
            <a:off x="-33688" y="4103370"/>
            <a:ext cx="9144000" cy="102870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0"/>
            <a:ext cx="4368800" cy="1028700"/>
          </a:xfrm>
          <a:prstGeom prst="rect">
            <a:avLst/>
          </a:prstGeom>
          <a:solidFill>
            <a:srgbClr val="17C3B2"/>
          </a:solidFill>
          <a:ln w="12700">
            <a:solidFill>
              <a:srgbClr val="17C3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114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7C3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LAPORAN PROJEK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788670"/>
            <a:ext cx="8229600" cy="11315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Implementasi</a:t>
            </a: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Algoritma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Counting Sort dan Fibonacci Search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pada Pengolahan Data Nilai Mahasiswa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Mata Kuliah: Struktur Data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23512" y="2532347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Dosen Pengampu: Ali Akbar Lubis, S.Kom., M.TI.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23512" y="3100087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Lauren Miadina Oppu Sunggu  |  5253151052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Melati Asyila  |  5253151049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Berkat Revaldo Harefa  |  5253151035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-33688" y="442341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2B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KELOMPOK 5 · PTIK D 2025  |  Universitas Negeri Medan  |  2026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PENDAHULUAN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7E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Latar Belakang &amp; Rumusan Masalah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206240" cy="3931920"/>
          </a:xfrm>
          <a:prstGeom prst="rect">
            <a:avLst/>
          </a:prstGeom>
          <a:solidFill>
            <a:srgbClr val="EEF6F8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B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Latar Belakang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02920" y="1325880"/>
            <a:ext cx="39319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Pengolahan data nilai mahasiswa memerlukan proses sorting dan searching yang efisien.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Counting Sort dipilih karena: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Kompleksitas O(n+k), cocok untuk data rentang 0–100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Fibonacci Search dipilih karena: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Kompleksitas O(log n), efisien pada data terurut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Dilakukan perbandingan Counting Sort vs Bubble Sort untuk mengetahui keunggulan masing-masing.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4023360" cy="3931920"/>
          </a:xfrm>
          <a:prstGeom prst="rect">
            <a:avLst/>
          </a:prstGeom>
          <a:solidFill>
            <a:srgbClr val="EEF6F8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9601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B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Rumusan Masalah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892040" y="1325880"/>
            <a:ext cx="37490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Bagaimana implementasi Counting Sort untuk mengurutkan data nilai mahasiswa?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Bagaimana implementasi Fibonacci Search untuk mencari nilai tertentu pada data yang telah terurut?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Mengapa Counting Sort lebih baik dibandingkan Bubble Sort pada rentang nilai terbatas?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Dalam kondisi apa kedua algoritma memberikan kinerja optimal?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PENDAHULUAN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7E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Tujuan &amp; Manfaat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7E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Tujuan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292608" cy="292608"/>
          </a:xfrm>
          <a:prstGeom prst="ellipse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984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126187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Mengimplementasikan Counting Sort untuk mengurutkan data nilai mahasiswa.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65760" y="2075688"/>
            <a:ext cx="292608" cy="292608"/>
          </a:xfrm>
          <a:prstGeom prst="ellipse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0756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31520" y="203911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Mengimplementasikan Fibonacci Search untuk mencari nilai tertentu pada data terurut.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65760" y="2852928"/>
            <a:ext cx="292608" cy="292608"/>
          </a:xfrm>
          <a:prstGeom prst="ellipse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8529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31520" y="281635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Menganalisis dan membandingkan kinerja Counting Sort dengan Bubble Sort.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65760" y="3630168"/>
            <a:ext cx="292608" cy="292608"/>
          </a:xfrm>
          <a:prstGeom prst="ellipse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6301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31520" y="359359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Mengetahui kelebihan dan keterbatasan kedua algoritma.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709160" y="8686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7E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Manfaat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709160" y="1298448"/>
            <a:ext cx="274320" cy="274320"/>
          </a:xfrm>
          <a:prstGeom prst="ellipse">
            <a:avLst/>
          </a:prstGeom>
          <a:solidFill>
            <a:srgbClr val="17C3B2"/>
          </a:solidFill>
          <a:ln w="12700">
            <a:solidFill>
              <a:srgbClr val="17C3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12984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✓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047488" y="127101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Menambah pemahaman konsep Counting Sort dan Fibonacci Search.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709160" y="1984248"/>
            <a:ext cx="274320" cy="274320"/>
          </a:xfrm>
          <a:prstGeom prst="ellipse">
            <a:avLst/>
          </a:prstGeom>
          <a:solidFill>
            <a:srgbClr val="17C3B2"/>
          </a:solidFill>
          <a:ln w="12700">
            <a:solidFill>
              <a:srgbClr val="17C3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19842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✓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047488" y="195681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Melatih kemampuan merancang program dengan algoritma sorting &amp; searching.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709160" y="2670048"/>
            <a:ext cx="274320" cy="274320"/>
          </a:xfrm>
          <a:prstGeom prst="ellipse">
            <a:avLst/>
          </a:prstGeom>
          <a:solidFill>
            <a:srgbClr val="17C3B2"/>
          </a:solidFill>
          <a:ln w="12700">
            <a:solidFill>
              <a:srgbClr val="17C3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26700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✓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047488" y="264261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Memberikan wawasan kelebihan &amp; keterbatasan berdasarkan hasil pengujian.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709160" y="3355848"/>
            <a:ext cx="274320" cy="274320"/>
          </a:xfrm>
          <a:prstGeom prst="ellipse">
            <a:avLst/>
          </a:prstGeom>
          <a:solidFill>
            <a:srgbClr val="17C3B2"/>
          </a:solidFill>
          <a:ln w="12700">
            <a:solidFill>
              <a:srgbClr val="17C3B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33558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✓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047488" y="332841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Membantu pengguna mengurutkan dan mencari data nilai secara efisien.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709160" y="4041648"/>
            <a:ext cx="274320" cy="274320"/>
          </a:xfrm>
          <a:prstGeom prst="ellipse">
            <a:avLst/>
          </a:prstGeom>
          <a:solidFill>
            <a:srgbClr val="17C3B2"/>
          </a:solidFill>
          <a:ln w="12700">
            <a:solidFill>
              <a:srgbClr val="17C3B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40416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✓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047488" y="401421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Menjadi referensi pembelajaran pada permasalahan nyata.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LANDASAN TEORI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7E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Counting Sort: Definisi &amp; Mekanisme Kerja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77724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96112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Counting Sort adalah algoritma non-comparison sorting yang bekerja dengan memanfaatkan teknik distribusi/pemetaan nilai elemen. Pertama kali diperkenalkan oleh Harold H. Seward (1954). Hanya berlaku untuk data integer dengan rentang nilai terbatas.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65760" y="1719072"/>
            <a:ext cx="2651760" cy="3154680"/>
          </a:xfrm>
          <a:prstGeom prst="rect">
            <a:avLst/>
          </a:prstGeom>
          <a:solidFill>
            <a:srgbClr val="EEF6F8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719072"/>
            <a:ext cx="2651760" cy="50292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73736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41248" y="17373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Fase Penghitungan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(Count Phase)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57200" y="2286000"/>
            <a:ext cx="24688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Pemindaian linear pada array masukan untuk menghitung frekuensi kemunculan setiap nilai ke dalam count array. Indeks = nilai elemen; isi = jumlah kemunculan.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200400" y="1719072"/>
            <a:ext cx="2651760" cy="3154680"/>
          </a:xfrm>
          <a:prstGeom prst="rect">
            <a:avLst/>
          </a:prstGeom>
          <a:solidFill>
            <a:srgbClr val="EEF6F8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1719072"/>
            <a:ext cx="2651760" cy="50292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173736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675888" y="17373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Fase Akumulasi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(Cumulative Phase)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291840" y="2286000"/>
            <a:ext cx="24688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Setiap elemen count array diperbarui melalui transformasi prefix sum. Hasilnya memberikan posisi indeks absolut/final setiap elemen dalam array terurut.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035040" y="1719072"/>
            <a:ext cx="2651760" cy="3154680"/>
          </a:xfrm>
          <a:prstGeom prst="rect">
            <a:avLst/>
          </a:prstGeom>
          <a:solidFill>
            <a:srgbClr val="EEF6F8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35040" y="1719072"/>
            <a:ext cx="2651760" cy="50292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0760" y="173736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510528" y="17373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Fase Penempatan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(Placement Phase)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126480" y="2286000"/>
            <a:ext cx="24688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Iterasi mundur (kanan ke kiri) pada array masukan. Posisi dari count array digunakan untuk menempatkan elemen secara presisi ke output array, lalu count dikurangi 1.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LANDASAN TEORI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7E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Counting Sort: Analisis Kompleksitas &amp; Sifat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Tabel 2.1 – Kompleksitas Waktu dan Ruang Counting Sort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1741018"/>
              </p:ext>
            </p:extLst>
          </p:nvPr>
        </p:nvGraphicFramePr>
        <p:xfrm>
          <a:off x="1371600" y="1234440"/>
          <a:ext cx="6400800" cy="164592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Kasus (Case)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Kompleksitas Waktu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Kompleksitas Ruang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Terbaik (Best Case)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A7E8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O(n + k)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A7E8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O(n + k)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Rata-Rata (Average Case)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A7E8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O(n + k)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A7E8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O(n + k)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Terburuk (Worst Case)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A7E8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O(n + k)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A7E8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O(n + k)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4"/>
          <p:cNvSpPr/>
          <p:nvPr/>
        </p:nvSpPr>
        <p:spPr>
          <a:xfrm>
            <a:off x="365760" y="3063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Sifat dan Keterbatasan Khusus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365760" y="3429000"/>
            <a:ext cx="2651760" cy="1417320"/>
          </a:xfrm>
          <a:prstGeom prst="rect">
            <a:avLst/>
          </a:prstGeom>
          <a:solidFill>
            <a:srgbClr val="EEF6F8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34747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Stable Sort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57200" y="3794760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Elemen dengan nilai sama mempertahankan urutan relatif aslinya.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200400" y="3429000"/>
            <a:ext cx="2651760" cy="1417320"/>
          </a:xfrm>
          <a:prstGeom prst="rect">
            <a:avLst/>
          </a:prstGeom>
          <a:solidFill>
            <a:srgbClr val="EEF6F8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91840" y="34747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 In-Place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3291840" y="3794760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Memerlukan memori tambahan O(n+k) untuk count array dan output array.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6035040" y="3429000"/>
            <a:ext cx="2651760" cy="1417320"/>
          </a:xfrm>
          <a:prstGeom prst="rect">
            <a:avLst/>
          </a:prstGeom>
          <a:solidFill>
            <a:srgbClr val="EEF6F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26480" y="34747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Keterbatasan Struktural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6126480" y="3794760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Hanya cocok untuk data integer dengan rentang nilai terbatas. Jika k sangat luas, keunggulan performa hilang.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64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4324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LANDASAN TEORI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502919"/>
            <a:ext cx="8412480" cy="378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7E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Fibonacci Search: Konsep &amp; Mekanisme Kerja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868679"/>
            <a:ext cx="8412480" cy="810873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96112"/>
            <a:ext cx="8138160" cy="735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Fibonacci Search adalah teknik pencarian divide-and-conquer pada sorted array yang memanfaatkan deret Fibonacci (F(0)=0, F(1)=1, F(m)=F(m-1)+F(m-2)) sebagai panduan partisi ruang pencarian — berbeda dari Binary Search yang selalu membagi tepat di tengah.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1627631"/>
            <a:ext cx="8412480" cy="3459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7E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Tahapan Mekanisme Kerja: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65760" y="1993392"/>
            <a:ext cx="4114800" cy="1567688"/>
          </a:xfrm>
          <a:prstGeom prst="rect">
            <a:avLst/>
          </a:prstGeom>
          <a:solidFill>
            <a:srgbClr val="EEF6F8"/>
          </a:solidFill>
          <a:ln w="12700">
            <a:solidFill>
              <a:srgbClr val="17C3B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993392"/>
            <a:ext cx="384048" cy="1567688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993392"/>
            <a:ext cx="384048" cy="1567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04672" y="2048255"/>
            <a:ext cx="3566160" cy="3459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Inisialisasi Fibonacci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04672" y="2359152"/>
            <a:ext cx="3566160" cy="10811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Tentukan bilangan Fibonacci terkecil ≥ panjang array n, sebagai F(m).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754880" y="1993392"/>
            <a:ext cx="4114800" cy="1567688"/>
          </a:xfrm>
          <a:prstGeom prst="rect">
            <a:avLst/>
          </a:prstGeom>
          <a:solidFill>
            <a:srgbClr val="EEF6F8"/>
          </a:solidFill>
          <a:ln w="12700">
            <a:solidFill>
              <a:srgbClr val="17C3B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1993392"/>
            <a:ext cx="384048" cy="1567688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993392"/>
            <a:ext cx="384048" cy="1567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193792" y="2048255"/>
            <a:ext cx="3566160" cy="3459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Penentuan Offset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193792" y="2359152"/>
            <a:ext cx="3566160" cy="10811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Inisialisasi variabel offset = −1 sebagai batas bawah ruang yang telah dieliminasi.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65760" y="3410712"/>
            <a:ext cx="4114800" cy="1567688"/>
          </a:xfrm>
          <a:prstGeom prst="rect">
            <a:avLst/>
          </a:prstGeom>
          <a:solidFill>
            <a:srgbClr val="EEF6F8"/>
          </a:solidFill>
          <a:ln w="12700">
            <a:solidFill>
              <a:srgbClr val="17C3B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410712"/>
            <a:ext cx="384048" cy="1567688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410712"/>
            <a:ext cx="384048" cy="1567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04672" y="3465575"/>
            <a:ext cx="3566160" cy="3459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Iterasi Pencarian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04672" y="3776472"/>
            <a:ext cx="3566160" cy="10811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Selama F(m) &gt; 1, hitung i = min(offset+F(m-2), n-1). Bandingkan A[i] dengan target: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Target &gt; A[i] → geser offset ke i, turunkan 1 langkah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Target &lt; A[i] → pertahankan offset, turunkan 2 langkah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Target = A[i] → kembalikan i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754880" y="3410712"/>
            <a:ext cx="4114800" cy="1567688"/>
          </a:xfrm>
          <a:prstGeom prst="rect">
            <a:avLst/>
          </a:prstGeom>
          <a:solidFill>
            <a:srgbClr val="EEF6F8"/>
          </a:solidFill>
          <a:ln w="12700">
            <a:solidFill>
              <a:srgbClr val="17C3B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0" y="3410712"/>
            <a:ext cx="384048" cy="1567688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3410712"/>
            <a:ext cx="384048" cy="1567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193792" y="3465575"/>
            <a:ext cx="3566160" cy="3459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Pemeriksaan Sisa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193792" y="3776472"/>
            <a:ext cx="3566160" cy="10811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Jika F(m-1)=1 dan A[offset+1]=target → kembalikan offset+1. Jika tidak ditemukan → kembalikan -1.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LANDASAN TEORI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7E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Tabel 2.2: Fibonacci Search vs Binary Search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B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Tabel 2.2 – Perbandingan Fibonacci Search vs Binary Search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0183524"/>
              </p:ext>
            </p:extLst>
          </p:nvPr>
        </p:nvGraphicFramePr>
        <p:xfrm>
          <a:off x="457200" y="1234440"/>
          <a:ext cx="8229600" cy="22860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Aspek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Binary Search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Fibonacci Search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Pembagi Ruang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Tepat di tengah (n/2)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Berdasarkan angka Fibonacci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Operasi Aritmetika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Operasi Pembagian (/)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Penjumlahan (+) dan pengurangan (-)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Kompleksitas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A7E8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O(log n)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A7E8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O(log n)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Keunggulan Hardware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Sederhana dan universal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Lebih cepat pada sistem yang lambat dalam pembagian (embedded system)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703320"/>
            <a:ext cx="8229600" cy="1097280"/>
          </a:xfrm>
          <a:prstGeom prst="rect">
            <a:avLst/>
          </a:prstGeom>
          <a:solidFill>
            <a:srgbClr val="EEF6F8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" y="3767328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7E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Analisis Kompleksitas Fibonacci Search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6"/>
          <p:cNvSpPr/>
          <p:nvPr/>
        </p:nvSpPr>
        <p:spPr>
          <a:xfrm>
            <a:off x="594360" y="4078224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Kompleksitas waktu O(log n) untuk semua kasus (best, average, worst). Ruang pencarian berkurang menjadi ~61,8% dari ukuran sebelumnya per iterasi (berkaitan dengan Golden Ratio 1/φ ≈ 0,618). Kompleksitas ruang O(1) — seluruh proses in-place tanpa memori tambahan.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094"/>
            <a:ext cx="9144000" cy="272978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en-ID" dirty="0"/>
          </a:p>
        </p:txBody>
      </p:sp>
      <p:sp>
        <p:nvSpPr>
          <p:cNvPr id="3" name="Text 1"/>
          <p:cNvSpPr/>
          <p:nvPr/>
        </p:nvSpPr>
        <p:spPr>
          <a:xfrm>
            <a:off x="3125690" y="2269705"/>
            <a:ext cx="37634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lgerian" panose="04020705040A02060702" pitchFamily="82" charset="0"/>
              </a:rPr>
              <a:t>PSEUDOCODE</a:t>
            </a:r>
            <a:endParaRPr lang="en-US" sz="4000" dirty="0">
              <a:latin typeface="Algerian" panose="04020705040A02060702" pitchFamily="82" charset="0"/>
            </a:endParaRPr>
          </a:p>
        </p:txBody>
      </p:sp>
      <p:sp>
        <p:nvSpPr>
          <p:cNvPr id="29" name="Text 1">
            <a:extLst>
              <a:ext uri="{FF2B5EF4-FFF2-40B4-BE49-F238E27FC236}">
                <a16:creationId xmlns:a16="http://schemas.microsoft.com/office/drawing/2014/main" id="{8FB96F20-F7E6-AF82-C354-13199E22DA56}"/>
              </a:ext>
            </a:extLst>
          </p:cNvPr>
          <p:cNvSpPr/>
          <p:nvPr/>
        </p:nvSpPr>
        <p:spPr>
          <a:xfrm>
            <a:off x="964551" y="2728686"/>
            <a:ext cx="72148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latin typeface="Algerian" panose="04020705040A02060702" pitchFamily="82" charset="0"/>
              </a:rPr>
              <a:t>COUNTING SORT &amp; FIBONACCI SEARCH</a:t>
            </a:r>
            <a:endParaRPr lang="en-US" sz="3200" dirty="0">
              <a:latin typeface="Algerian" panose="04020705040A02060702" pitchFamily="82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BAB IV — DESAIN &amp; IMPLEMENTASI PROGRAM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7E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Desain Program – Struktur Modular C++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 dirancang menggunakan C++ dengan konsep modular (multi-file):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65760" y="1216633"/>
            <a:ext cx="8412480" cy="804672"/>
          </a:xfrm>
          <a:prstGeom prst="rect">
            <a:avLst/>
          </a:prstGeom>
          <a:solidFill>
            <a:srgbClr val="EEF6F8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07008"/>
            <a:ext cx="73152" cy="804672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2618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2B55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main.cpp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7E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Pusat Pengendali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749040" y="1298448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Menampilkan menu utama, menerima masukan pengguna, memanggil fungsi sorting &amp; searching.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65760" y="2121408"/>
            <a:ext cx="8412480" cy="804672"/>
          </a:xfrm>
          <a:prstGeom prst="rect">
            <a:avLst/>
          </a:prstGeom>
          <a:solidFill>
            <a:srgbClr val="EEF6F8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121408"/>
            <a:ext cx="73152" cy="804672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1762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2B55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sorting.h / sorting.cpp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48640" y="246888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7E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Modul Sorting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749040" y="2212848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Implementasi Counting Sort (integer &amp; string) dan Bubble Sort sebagai algoritma pembanding benchmark.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65760" y="3035808"/>
            <a:ext cx="8412480" cy="804672"/>
          </a:xfrm>
          <a:prstGeom prst="rect">
            <a:avLst/>
          </a:prstGeom>
          <a:solidFill>
            <a:srgbClr val="EEF6F8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035808"/>
            <a:ext cx="73152" cy="804672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0906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2B55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searching.h / searching.cpp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48640" y="338328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7E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Modul Searching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749040" y="3127248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Implementasi Fibonacci Search untuk pencarian data integer maupun string yang telah terurut.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65760" y="3950208"/>
            <a:ext cx="8412480" cy="804672"/>
          </a:xfrm>
          <a:prstGeom prst="rect">
            <a:avLst/>
          </a:prstGeom>
          <a:solidFill>
            <a:srgbClr val="EEF6F8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950208"/>
            <a:ext cx="73152" cy="804672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0050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2B55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Hasil_Benchmark.txt/.csv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48640" y="429768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7E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File Hasil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3749040" y="4041648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Ekspor hasil benchmark ke format .txt dan .csv untuk dokumentasi dan analisis lebih lanjut.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DESAIN &amp; IMPLEMENTASI PROGRAM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7E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Implementasi Program – Menu Utama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 dikompilasi menggunakan GCC (g++) via Visual Studio Code dan menyediakan 6 menu utama: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4114800" cy="1143000"/>
          </a:xfrm>
          <a:prstGeom prst="rect">
            <a:avLst/>
          </a:prstGeom>
          <a:solidFill>
            <a:srgbClr val="EEF6F8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" y="1325880"/>
            <a:ext cx="438912" cy="438912"/>
          </a:xfrm>
          <a:prstGeom prst="ellipse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3258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987552" y="1298448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B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/ Generate Data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87552" y="1609344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manual atau generate data acak (integer/string), termasuk baca dari file teks.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754880" y="1188720"/>
            <a:ext cx="4114800" cy="1143000"/>
          </a:xfrm>
          <a:prstGeom prst="rect">
            <a:avLst/>
          </a:prstGeom>
          <a:solidFill>
            <a:srgbClr val="EEF6F8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64608" y="1325880"/>
            <a:ext cx="438912" cy="438912"/>
          </a:xfrm>
          <a:prstGeom prst="ellipse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64608" y="13258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376672" y="1298448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B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Jalankan Sorting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376672" y="1609344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Menjalankan Counting Sort dengan fitur trace yang memvisualisasikan larik frekuensi dan hasil urutan.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4114800" cy="1143000"/>
          </a:xfrm>
          <a:prstGeom prst="rect">
            <a:avLst/>
          </a:prstGeom>
          <a:solidFill>
            <a:srgbClr val="EEF6F8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" y="2606040"/>
            <a:ext cx="438912" cy="438912"/>
          </a:xfrm>
          <a:prstGeom prst="ellipse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26060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87552" y="2578608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B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Jalankan Searching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987552" y="2889504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Menjalankan Fibonacci Search dengan trace langkah-langkah pencarian dan posisi elemen yang ditemukan.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754880" y="2468880"/>
            <a:ext cx="4114800" cy="1143000"/>
          </a:xfrm>
          <a:prstGeom prst="rect">
            <a:avLst/>
          </a:prstGeom>
          <a:solidFill>
            <a:srgbClr val="EEF6F8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64608" y="2606040"/>
            <a:ext cx="438912" cy="438912"/>
          </a:xfrm>
          <a:prstGeom prst="ellipse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64608" y="26060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376672" y="2578608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B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Benchmark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376672" y="2889504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Membandingkan Counting Sort vs Bubble Sort pada 5 ukuran data (100–10000) dan 4 kondisi data.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65760" y="3749040"/>
            <a:ext cx="4114800" cy="1143000"/>
          </a:xfrm>
          <a:prstGeom prst="rect">
            <a:avLst/>
          </a:prstGeom>
          <a:solidFill>
            <a:srgbClr val="EEF6F8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" y="3886200"/>
            <a:ext cx="438912" cy="438912"/>
          </a:xfrm>
          <a:prstGeom prst="ellipse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" y="38862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987552" y="3858768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B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Ekspor Hasil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987552" y="4169664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Menyimpan hasil benchmark ke file .txt atau .csv untuk dokumentasi dan analisis lebih lanjut.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754880" y="3749040"/>
            <a:ext cx="4114800" cy="1143000"/>
          </a:xfrm>
          <a:prstGeom prst="rect">
            <a:avLst/>
          </a:prstGeom>
          <a:solidFill>
            <a:srgbClr val="EEF6F8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64608" y="3886200"/>
            <a:ext cx="438912" cy="438912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64608" y="38862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5376672" y="3858768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B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Keluar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5376672" y="4169664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Mengakhiri program.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STUDI KASUS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7E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Deskripsi Studi Kasus &amp; Dataset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96012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110996"/>
            <a:ext cx="8138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Studi kasus: Analisis distribusi nilai ujian mahasiswa. Data nilai integer rentang 0–100 sangat sesuai dengan karakteristik Counting Sort yang memerlukan rentang nilai terbatas. Setelah terurut, Fibonacci Search digunakan untuk mencari nilai tertentu.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1920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7E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yang Digunakan: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65760" y="2221992"/>
            <a:ext cx="4114800" cy="2331720"/>
          </a:xfrm>
          <a:prstGeom prst="rect">
            <a:avLst/>
          </a:prstGeom>
          <a:solidFill>
            <a:srgbClr val="EEF6F8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267712"/>
            <a:ext cx="38404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Contoh dataset: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rgbClr val="0A7E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90, 99, 67, 56, 78, 98, 68, 93, 81, 86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Karakteristik dataset: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berupa bilangan bulat (integer)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Rentang nilai terbatas antara 0–100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Memungkinkan banyak nilai duplikat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Cocok untuk Counting Sort (k=101)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663440" y="1920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7E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Ukuran Data Pengujian: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663440" y="2267712"/>
            <a:ext cx="3931920" cy="384048"/>
          </a:xfrm>
          <a:prstGeom prst="rect">
            <a:avLst/>
          </a:prstGeom>
          <a:solidFill>
            <a:srgbClr val="EEF6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2267712"/>
            <a:ext cx="365760" cy="384048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2267712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102352" y="231343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 elemen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663440" y="2724912"/>
            <a:ext cx="3931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2724912"/>
            <a:ext cx="365760" cy="384048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2724912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102352" y="277063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500 elemen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663440" y="3182112"/>
            <a:ext cx="3931920" cy="384048"/>
          </a:xfrm>
          <a:prstGeom prst="rect">
            <a:avLst/>
          </a:prstGeom>
          <a:solidFill>
            <a:srgbClr val="EEF6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3182112"/>
            <a:ext cx="365760" cy="384048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3182112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102352" y="322783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1.000 elemen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663440" y="3639312"/>
            <a:ext cx="3931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63440" y="3639312"/>
            <a:ext cx="365760" cy="384048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3639312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102352" y="368503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5.000 elemen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663440" y="4096512"/>
            <a:ext cx="3931920" cy="384048"/>
          </a:xfrm>
          <a:prstGeom prst="rect">
            <a:avLst/>
          </a:prstGeom>
          <a:solidFill>
            <a:srgbClr val="EEF6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63440" y="4096512"/>
            <a:ext cx="365760" cy="384048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4096512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102352" y="414223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10.000 elemen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ANALISIS HASIL EKSPERIMEN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274320" y="43891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B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Tabel Perbandingan Waktu Eksekusi: Counting Sort vs Bubble Sort (ms)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2663114"/>
              </p:ext>
            </p:extLst>
          </p:nvPr>
        </p:nvGraphicFramePr>
        <p:xfrm>
          <a:off x="1771049" y="612167"/>
          <a:ext cx="5419021" cy="4320540"/>
        </p:xfrm>
        <a:graphic>
          <a:graphicData uri="http://schemas.openxmlformats.org/drawingml/2006/table">
            <a:tbl>
              <a:tblPr/>
              <a:tblGrid>
                <a:gridCol w="8768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0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06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155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00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Ukuran</a:t>
                      </a:r>
                      <a:endParaRPr lang="en-US" sz="7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Kondisi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CountingTime_ms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BubbleTime_ms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US" sz="7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Acak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0A7E8C"/>
                          </a:solidFill>
                        </a:rPr>
                        <a:t>0.060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F4444"/>
                          </a:solidFill>
                        </a:rPr>
                        <a:t>0.211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US" sz="7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Terurut Naik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0A7E8C"/>
                          </a:solidFill>
                        </a:rPr>
                        <a:t>0.021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F4444"/>
                          </a:solidFill>
                        </a:rPr>
                        <a:t>0.268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0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US" sz="7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Terurut Turun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0A7E8C"/>
                          </a:solidFill>
                        </a:rPr>
                        <a:t>0.021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F4444"/>
                          </a:solidFill>
                        </a:rPr>
                        <a:t>0.189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0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US" sz="7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Banyak Duplikat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0A7E8C"/>
                          </a:solidFill>
                        </a:rPr>
                        <a:t>0.014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F4444"/>
                          </a:solidFill>
                        </a:rPr>
                        <a:t>0.189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00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</a:t>
                      </a:r>
                      <a:endParaRPr lang="en-US" sz="7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Acak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0A7E8C"/>
                          </a:solidFill>
                        </a:rPr>
                        <a:t>0.106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F4444"/>
                          </a:solidFill>
                        </a:rPr>
                        <a:t>5.464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00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</a:t>
                      </a:r>
                      <a:endParaRPr lang="en-US" sz="7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Terurut Naik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0A7E8C"/>
                          </a:solidFill>
                        </a:rPr>
                        <a:t>0.098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F4444"/>
                          </a:solidFill>
                        </a:rPr>
                        <a:t>0.009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00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</a:t>
                      </a:r>
                      <a:endParaRPr lang="en-US" sz="7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Terurut Turun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0A7E8C"/>
                          </a:solidFill>
                        </a:rPr>
                        <a:t>0.099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F4444"/>
                          </a:solidFill>
                        </a:rPr>
                        <a:t>7.103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00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</a:t>
                      </a:r>
                      <a:endParaRPr lang="en-US" sz="7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Banyak Duplikat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0A7E8C"/>
                          </a:solidFill>
                        </a:rPr>
                        <a:t>0.064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F4444"/>
                          </a:solidFill>
                        </a:rPr>
                        <a:t>7.113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00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1000</a:t>
                      </a:r>
                      <a:endParaRPr lang="en-US" sz="7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Acak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0A7E8C"/>
                          </a:solidFill>
                        </a:rPr>
                        <a:t>0.370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F4444"/>
                          </a:solidFill>
                        </a:rPr>
                        <a:t>22.965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00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1000</a:t>
                      </a:r>
                      <a:endParaRPr lang="en-US" sz="7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Terurut Naik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0A7E8C"/>
                          </a:solidFill>
                        </a:rPr>
                        <a:t>0.194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F4444"/>
                          </a:solidFill>
                        </a:rPr>
                        <a:t>0.019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00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1000</a:t>
                      </a:r>
                      <a:endParaRPr lang="en-US" sz="7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Terurut Turun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0A7E8C"/>
                          </a:solidFill>
                        </a:rPr>
                        <a:t>0.194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F4444"/>
                          </a:solidFill>
                        </a:rPr>
                        <a:t>27.194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00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1000</a:t>
                      </a:r>
                      <a:endParaRPr lang="en-US" sz="7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Banyak Duplikat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0A7E8C"/>
                          </a:solidFill>
                        </a:rPr>
                        <a:t>0.125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F4444"/>
                          </a:solidFill>
                        </a:rPr>
                        <a:t>18.791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00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5000</a:t>
                      </a:r>
                      <a:endParaRPr lang="en-US" sz="7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Acak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0A7E8C"/>
                          </a:solidFill>
                        </a:rPr>
                        <a:t>0.960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</a:rPr>
                        <a:t>0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00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5000</a:t>
                      </a:r>
                      <a:endParaRPr lang="en-US" sz="7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Terurut Naik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0A7E8C"/>
                          </a:solidFill>
                        </a:rPr>
                        <a:t>1.013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</a:rPr>
                        <a:t>0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00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5000</a:t>
                      </a:r>
                      <a:endParaRPr lang="en-US" sz="7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Terurut Turun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0A7E8C"/>
                          </a:solidFill>
                        </a:rPr>
                        <a:t>1.009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</a:rPr>
                        <a:t>0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800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5000</a:t>
                      </a:r>
                      <a:endParaRPr lang="en-US" sz="7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Banyak Duplikat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0A7E8C"/>
                          </a:solidFill>
                        </a:rPr>
                        <a:t>0.644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</a:rPr>
                        <a:t>0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800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10000</a:t>
                      </a:r>
                      <a:endParaRPr lang="en-US" sz="7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Acak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0A7E8C"/>
                          </a:solidFill>
                        </a:rPr>
                        <a:t>1.928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</a:rPr>
                        <a:t>0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800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10000</a:t>
                      </a:r>
                      <a:endParaRPr lang="en-US" sz="7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Terurut Naik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0A7E8C"/>
                          </a:solidFill>
                        </a:rPr>
                        <a:t>1.820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</a:rPr>
                        <a:t>0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800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10000</a:t>
                      </a:r>
                      <a:endParaRPr lang="en-US" sz="7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Terurut Turun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0A7E8C"/>
                          </a:solidFill>
                        </a:rPr>
                        <a:t>1.599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</a:rPr>
                        <a:t>0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800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10000</a:t>
                      </a:r>
                      <a:endParaRPr lang="en-US" sz="7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Banyak Duplikat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0A7E8C"/>
                          </a:solidFill>
                        </a:rPr>
                        <a:t>1.033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</a:rPr>
                        <a:t>0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956048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 Bubble Sort untuk n ≥ 5000 tidak dapat diselesaikan dalam waktu yang terukur (ditampilkan sebagai 0)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ANALISIS HASIL EKSPERIMEN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0A7E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Grafik</a:t>
            </a:r>
            <a:r>
              <a:rPr lang="en-US" sz="1100" b="1" dirty="0">
                <a:solidFill>
                  <a:srgbClr val="0A7E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Jumlah Operasi Counting Sort vs Bubble Sort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" y="84124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Perbandingan</a:t>
            </a:r>
            <a:r>
              <a:rPr lang="en-US" sz="105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waktu eksekusi (ms) pada data acak: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3499317050"/>
              </p:ext>
            </p:extLst>
          </p:nvPr>
        </p:nvGraphicFramePr>
        <p:xfrm>
          <a:off x="365760" y="1143000"/>
          <a:ext cx="841248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7091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 Bubble Sort n≥5000: tidak selesai (ditampilkan 0). Counting Sort stabil; Bubble Sort meledak secara kuadratik.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BAB VI — ANALISIS HASIL EKSPERIMEN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7E8C"/>
                </a:solidFill>
              </a:rPr>
              <a:t>Gambar 6.3 – Grafik Perbandingan Eksekusi &amp; Analisis</a:t>
            </a:r>
            <a:endParaRPr lang="en-US" sz="11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914400"/>
          <a:ext cx="530352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852160" y="914400"/>
            <a:ext cx="2926080" cy="3291840"/>
          </a:xfrm>
          <a:prstGeom prst="rect">
            <a:avLst/>
          </a:prstGeom>
          <a:solidFill>
            <a:srgbClr val="EEF6F8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0" y="9875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7E8C"/>
                </a:solidFill>
              </a:rPr>
              <a:t>Analisis </a:t>
            </a:r>
            <a:r>
              <a:rPr lang="en-US" sz="1200" b="1" dirty="0">
                <a:solidFill>
                  <a:srgbClr val="0A7E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Utama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5943600" y="1298448"/>
            <a:ext cx="274320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A7E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Counting Sort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Waktu rendah &amp; stabil di semua ukuran. Peningkatan linear seiring n.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Bubble Sort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Meningkat kuadratik. Pada 1000 data acak mencapai 22,965 ms vs Counting Sort hanya 0,370 ms (62× lebih lambat).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n≥5000: Bubble Sort tidak terukur. Counting Sort tetap berjalan 1–2 ms.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365760" y="4279392"/>
            <a:ext cx="8412480" cy="640080"/>
          </a:xfrm>
          <a:prstGeom prst="rect">
            <a:avLst/>
          </a:prstGeom>
          <a:solidFill>
            <a:srgbClr val="E8F5E9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4315968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</a:rPr>
              <a:t>Analisis Counting Sort: 100 elemen → 0,060 ms; 500 elemen → 0,106 ms; 1000 elemen → 0,370 ms. Peningkatan tidak signifikan karena mekanisme non-comparison (tanpa swap). Sangat sesuai untuk rentang nilai 0–100 (k=101 tetap dan kecil).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365760" y="948088"/>
            <a:ext cx="8412480" cy="50292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755648"/>
            <a:ext cx="8412480" cy="868680"/>
          </a:xfrm>
          <a:prstGeom prst="rect">
            <a:avLst/>
          </a:prstGeom>
          <a:solidFill>
            <a:srgbClr val="1E1E2E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ANALISIS HASIL EKSPERIMEN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10287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Analisis Fibonacci Search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76450" y="1783081"/>
            <a:ext cx="8138160" cy="8061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Fibonacci Search digunakan setelah Counting Sort. Kompleksitas O(log n) — efisien pada data terurut dengan operasi aritmetika sederhana (penjumlahan &amp; pengurangan).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65760" y="3035808"/>
            <a:ext cx="4114800" cy="1478440"/>
          </a:xfrm>
          <a:prstGeom prst="rect">
            <a:avLst/>
          </a:prstGeom>
          <a:solidFill>
            <a:srgbClr val="EEF6F8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035808"/>
            <a:ext cx="221381" cy="147844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ID" dirty="0"/>
          </a:p>
        </p:txBody>
      </p:sp>
      <p:sp>
        <p:nvSpPr>
          <p:cNvPr id="17" name="Text 15"/>
          <p:cNvSpPr/>
          <p:nvPr/>
        </p:nvSpPr>
        <p:spPr>
          <a:xfrm>
            <a:off x="365760" y="3035808"/>
            <a:ext cx="221381" cy="1478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02920" y="303580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D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Keunggulan</a:t>
            </a:r>
            <a:r>
              <a:rPr lang="en-ID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Mutlak</a:t>
            </a:r>
            <a:r>
              <a:rPr lang="en-ID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Counting Sort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80506" y="3657600"/>
            <a:ext cx="3706689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/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Keunggulan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Mutlak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Counting Sort Karena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jangkauan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nilai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nilai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ujian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mahasiswa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dibatasi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akademik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(k = 101,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nilai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hingga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100),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rentang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memori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dinamis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count array sangat minimal.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Menghasilkan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waktu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eksekusi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linear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tanpa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dipengaruhi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pola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acak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asli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Terbukti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stabil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andal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dan sangat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hemat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komputasi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754880" y="3035808"/>
            <a:ext cx="4114800" cy="1478440"/>
          </a:xfrm>
          <a:prstGeom prst="rect">
            <a:avLst/>
          </a:prstGeom>
          <a:solidFill>
            <a:srgbClr val="EEF6F8"/>
          </a:solidFill>
          <a:ln w="1270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ID" dirty="0"/>
          </a:p>
        </p:txBody>
      </p:sp>
      <p:sp>
        <p:nvSpPr>
          <p:cNvPr id="21" name="Shape 19"/>
          <p:cNvSpPr/>
          <p:nvPr/>
        </p:nvSpPr>
        <p:spPr>
          <a:xfrm>
            <a:off x="4754880" y="3035808"/>
            <a:ext cx="240632" cy="147844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3035808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918509" y="3009339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D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Kelemahan</a:t>
            </a:r>
            <a:r>
              <a:rPr lang="en-ID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Struktural</a:t>
            </a:r>
            <a:r>
              <a:rPr lang="en-ID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Bubble Sort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212080" y="3656157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/>
            <a:r>
              <a:rPr lang="en-ID" sz="1200" dirty="0"/>
              <a:t>Bubble Sort </a:t>
            </a:r>
            <a:r>
              <a:rPr lang="en-ID" sz="1200" dirty="0" err="1"/>
              <a:t>melakukan</a:t>
            </a:r>
            <a:r>
              <a:rPr lang="en-ID" sz="1200" dirty="0"/>
              <a:t> </a:t>
            </a:r>
            <a:r>
              <a:rPr lang="en-ID" sz="1200" dirty="0" err="1"/>
              <a:t>pertukaran</a:t>
            </a:r>
            <a:r>
              <a:rPr lang="en-ID" sz="1200" dirty="0"/>
              <a:t> (swap) </a:t>
            </a:r>
            <a:r>
              <a:rPr lang="en-ID" sz="1200" dirty="0" err="1"/>
              <a:t>bertingkat</a:t>
            </a:r>
            <a:r>
              <a:rPr lang="en-ID" sz="1200" dirty="0"/>
              <a:t> </a:t>
            </a:r>
            <a:r>
              <a:rPr lang="en-ID" sz="1200" dirty="0" err="1"/>
              <a:t>secara</a:t>
            </a:r>
            <a:r>
              <a:rPr lang="en-ID" sz="1200" dirty="0"/>
              <a:t> redundant </a:t>
            </a:r>
            <a:r>
              <a:rPr lang="en-ID" sz="1200" dirty="0" err="1"/>
              <a:t>dengan</a:t>
            </a:r>
            <a:r>
              <a:rPr lang="en-ID" sz="1200" dirty="0"/>
              <a:t> </a:t>
            </a:r>
            <a:r>
              <a:rPr lang="en-ID" sz="1200" dirty="0" err="1"/>
              <a:t>kompleksitas</a:t>
            </a:r>
            <a:r>
              <a:rPr lang="en-ID" sz="1200" dirty="0"/>
              <a:t> </a:t>
            </a:r>
            <a:r>
              <a:rPr lang="en-ID" sz="1200" dirty="0" err="1"/>
              <a:t>waktu</a:t>
            </a:r>
            <a:r>
              <a:rPr lang="en-ID" sz="1200" dirty="0"/>
              <a:t> </a:t>
            </a:r>
            <a:r>
              <a:rPr lang="en-ID" sz="1200" dirty="0" err="1"/>
              <a:t>kuadratik</a:t>
            </a:r>
            <a:r>
              <a:rPr lang="en-ID" sz="1200" dirty="0"/>
              <a:t> On². </a:t>
            </a:r>
            <a:r>
              <a:rPr lang="en-ID" sz="1200" dirty="0" err="1"/>
              <a:t>Kecepatannya</a:t>
            </a:r>
            <a:r>
              <a:rPr lang="en-ID" sz="1200" dirty="0"/>
              <a:t> </a:t>
            </a:r>
            <a:r>
              <a:rPr lang="en-ID" sz="1200" dirty="0" err="1"/>
              <a:t>menurun</a:t>
            </a:r>
            <a:r>
              <a:rPr lang="en-ID" sz="1200" dirty="0"/>
              <a:t> </a:t>
            </a:r>
            <a:r>
              <a:rPr lang="en-ID" sz="1200" dirty="0" err="1"/>
              <a:t>drastis</a:t>
            </a:r>
            <a:r>
              <a:rPr lang="en-ID" sz="1200" dirty="0"/>
              <a:t> </a:t>
            </a:r>
            <a:r>
              <a:rPr lang="en-ID" sz="1200" dirty="0" err="1"/>
              <a:t>ketika</a:t>
            </a:r>
            <a:r>
              <a:rPr lang="en-ID" sz="1200" dirty="0"/>
              <a:t> </a:t>
            </a:r>
            <a:r>
              <a:rPr lang="en-ID" sz="1200" dirty="0" err="1"/>
              <a:t>menangani</a:t>
            </a:r>
            <a:r>
              <a:rPr lang="en-ID" sz="1200" dirty="0"/>
              <a:t> data di </a:t>
            </a:r>
            <a:r>
              <a:rPr lang="en-ID" sz="1200" dirty="0" err="1"/>
              <a:t>atas</a:t>
            </a:r>
            <a:r>
              <a:rPr lang="en-ID" sz="1200" dirty="0"/>
              <a:t> 1000 </a:t>
            </a:r>
            <a:r>
              <a:rPr lang="en-ID" sz="1200" dirty="0" err="1"/>
              <a:t>entri</a:t>
            </a:r>
            <a:r>
              <a:rPr lang="en-ID" sz="1200" dirty="0"/>
              <a:t>, </a:t>
            </a:r>
            <a:r>
              <a:rPr lang="en-ID" sz="1200" dirty="0" err="1"/>
              <a:t>tidak</a:t>
            </a:r>
            <a:r>
              <a:rPr lang="en-ID" sz="1200" dirty="0"/>
              <a:t> </a:t>
            </a:r>
            <a:r>
              <a:rPr lang="en-ID" sz="1200" dirty="0" err="1"/>
              <a:t>direkomendasikan</a:t>
            </a:r>
            <a:r>
              <a:rPr lang="en-ID" sz="1200" dirty="0"/>
              <a:t> </a:t>
            </a:r>
            <a:r>
              <a:rPr lang="en-ID" sz="1200" dirty="0" err="1"/>
              <a:t>untuk</a:t>
            </a:r>
            <a:r>
              <a:rPr lang="en-ID" sz="1200" dirty="0"/>
              <a:t> </a:t>
            </a:r>
            <a:r>
              <a:rPr lang="en-ID" sz="1200" dirty="0" err="1"/>
              <a:t>produksi</a:t>
            </a:r>
            <a:r>
              <a:rPr lang="en-ID" sz="1200" dirty="0"/>
              <a:t> </a:t>
            </a:r>
            <a:r>
              <a:rPr lang="en-ID" sz="1200" dirty="0" err="1"/>
              <a:t>sistem</a:t>
            </a:r>
            <a:r>
              <a:rPr lang="en-ID" sz="1200" dirty="0"/>
              <a:t> </a:t>
            </a:r>
            <a:r>
              <a:rPr lang="en-ID" sz="1200" dirty="0" err="1"/>
              <a:t>informasi</a:t>
            </a:r>
            <a:r>
              <a:rPr lang="en-ID" sz="1200" dirty="0"/>
              <a:t> </a:t>
            </a:r>
            <a:r>
              <a:rPr lang="en-ID" sz="1200" dirty="0" err="1"/>
              <a:t>nilai</a:t>
            </a:r>
            <a:r>
              <a:rPr lang="en-ID" sz="1200" dirty="0"/>
              <a:t>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65760" y="3995928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O(1)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754880" y="3995928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+/-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KESIMPULAN &amp; SARAN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C3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Kesimpulan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658368"/>
          </a:xfrm>
          <a:prstGeom prst="rect">
            <a:avLst/>
          </a:prstGeom>
          <a:solidFill>
            <a:srgbClr val="0A2040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51560"/>
            <a:ext cx="457200" cy="457200"/>
          </a:xfrm>
          <a:prstGeom prst="ellipse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05840" y="1033272"/>
            <a:ext cx="7589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Counting Sort modular berbasis C++ berhasil mengurutkan data melalui fase hitung, akumulasi, dan penempatan. Fitur trace memvisualisasikan dinamika larik frekuensi secara transparan.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65760" y="1709928"/>
            <a:ext cx="8412480" cy="658368"/>
          </a:xfrm>
          <a:prstGeom prst="rect">
            <a:avLst/>
          </a:prstGeom>
          <a:solidFill>
            <a:srgbClr val="0A2040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801368"/>
            <a:ext cx="457200" cy="457200"/>
          </a:xfrm>
          <a:prstGeom prst="ellipse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801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05840" y="1783080"/>
            <a:ext cx="7589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Fibonacci Search berbasis divide-and-conquer diaplikasikan secara presisi untuk mempersempit ruang pencarian dan mengembalikan indeks target atau -1 jika tidak ditemukan.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65760" y="2459736"/>
            <a:ext cx="8412480" cy="658368"/>
          </a:xfrm>
          <a:prstGeom prst="rect">
            <a:avLst/>
          </a:prstGeom>
          <a:solidFill>
            <a:srgbClr val="0A2040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551176"/>
            <a:ext cx="457200" cy="457200"/>
          </a:xfrm>
          <a:prstGeom prst="ellipse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5511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005840" y="2532888"/>
            <a:ext cx="7589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Pada rentang nilai 0–100, Counting Sort jauh superior dibanding Bubble Sort. Uji 1.000 data acak: Counting Sort 0,370 ms vs Bubble Sort 22,965 ms (62× lebih cepat).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65760" y="3209544"/>
            <a:ext cx="8412480" cy="658368"/>
          </a:xfrm>
          <a:prstGeom prst="rect">
            <a:avLst/>
          </a:prstGeom>
          <a:solidFill>
            <a:srgbClr val="0A2040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300984"/>
            <a:ext cx="457200" cy="457200"/>
          </a:xfrm>
          <a:prstGeom prst="ellipse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3009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005840" y="3282696"/>
            <a:ext cx="7589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Kombinasi kedua algoritma terbukti menghasilkan sistem komputasi nilai akademik yang cepat dan efisien, dengan Counting Sort optimal untuk data bulat berrentang sempit.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65760" y="40233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C3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Saran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65760" y="43434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Optimasi memori dinamis Counting Sort untuk k lebar (peak memory)  • Dukung sorting multi-kriteria (NIM + nama)  • Migrasi CLI ke GUI  • Uji Fibonacci Search di embedded system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350369"/>
            <a:ext cx="9144000" cy="91440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350369"/>
            <a:ext cx="4572000" cy="914400"/>
          </a:xfrm>
          <a:prstGeom prst="rect">
            <a:avLst/>
          </a:prstGeom>
          <a:solidFill>
            <a:srgbClr val="17C3B2"/>
          </a:solidFill>
          <a:ln w="12700">
            <a:solidFill>
              <a:srgbClr val="17C3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7081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Terima Kasih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021481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Implementasi Counting Sort dan Fibonacci Search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pada Pengolahan Data Nilai Mahasiswa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39619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Lauren Miadina Oppu Sunggu  |  Melati Asyila  |  Berkat Revaldo Harefa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Universitas Negeri Medan  ·  Dosen: Ali Akbar Lubis, S.Kom., M.TI.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7C3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Struktur Data  ·  2026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2154DF7-38E0-252C-7949-64D6AA5797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9591" y="1568935"/>
            <a:ext cx="2444818" cy="2399680"/>
          </a:xfrm>
          <a:prstGeom prst="rect">
            <a:avLst/>
          </a:prstGeom>
          <a:effectLst>
            <a:glow rad="228600">
              <a:schemeClr val="accent5">
                <a:satMod val="175000"/>
                <a:alpha val="40000"/>
              </a:scheme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1903</Words>
  <Application>Microsoft Office PowerPoint</Application>
  <PresentationFormat>On-screen Show (16:9)</PresentationFormat>
  <Paragraphs>335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Algerian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Implementasi Counting Sort dan Fibonacci Search</dc:title>
  <dc:subject>PptxGenJS Presentation</dc:subject>
  <dc:creator>Kelompok 5 PTIK D 2025</dc:creator>
  <cp:lastModifiedBy>Acer A314-35</cp:lastModifiedBy>
  <cp:revision>8</cp:revision>
  <dcterms:created xsi:type="dcterms:W3CDTF">2026-06-03T09:28:44Z</dcterms:created>
  <dcterms:modified xsi:type="dcterms:W3CDTF">2026-06-03T15:01:07Z</dcterms:modified>
</cp:coreProperties>
</file>